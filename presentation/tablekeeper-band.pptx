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yourself. Click: subtitle (what the project is). Click: how it was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reveals one card: what Tablekeeper is, who built it, and what the human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1-2: the timeline shows two guests on the same table. Clicks 3-6: why this is hard, one reason per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the factory click by click: human, the three seats, the Band room that connects them, the review loop, and the guarantee the service gives.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1: the feature list. Then one result per click. Numbers come from FACTORY.md and the README verification table. The cost is an estimate at API list rates, not an invoice.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Click: questions. Click: links to the repository and the demo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helshahaby/tablekeeper-ban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helshahaby/tablekeeper-band" TargetMode="External"/><Relationship Id="rId4" Type="http://schemas.openxmlformats.org/officeDocument/2006/relationships/hyperlink" Target="https://www.loom.com/share/8318b9a6de17450bbfb7fdda287a9a8b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5A524"/>
                </a:solidFill>
                <a:latin typeface="Consolas"/>
              </a:rPr>
              <a:t>BAND FACTORY SUBMISSION  ·  TRACK: TABLEKEEPER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1">
                <a:solidFill>
                  <a:srgbClr val="EDEAE4"/>
                </a:solidFill>
                <a:latin typeface="Arial"/>
              </a:rPr>
              <a:t>Hossam Elshahaby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156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EDEAE4"/>
                </a:solidFill>
                <a:latin typeface="Arial"/>
              </a:rPr>
              <a:t>Tablekeeper — restaurant reservations that never double-book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9A958C"/>
                </a:solidFill>
                <a:latin typeface="Arial"/>
              </a:rPr>
              <a:t>Built by three AI agents, orchestrated in one Band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5A524"/>
                </a:solidFill>
                <a:latin typeface="Consolas"/>
                <a:hlinkClick r:id="rId3"/>
              </a:rPr>
              <a:t>github.com/helshahaby/tablekeeper-band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5A524"/>
                </a:solidFill>
                <a:latin typeface="Consolas"/>
              </a:rPr>
              <a:t>01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DEAE4"/>
                </a:solidFill>
                <a:latin typeface="Arial"/>
              </a:rPr>
              <a:t>A booking service built by an AI factory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66160" cy="3566160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A524"/>
                </a:solidFill>
                <a:latin typeface="Consolas"/>
              </a:rPr>
              <a:t>WHAT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EDEAE4"/>
                </a:solidFill>
                <a:latin typeface="Arial"/>
              </a:rPr>
              <a:t>Tablekeeper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958C"/>
                </a:solidFill>
                <a:latin typeface="Arial"/>
              </a:rPr>
              <a:t>Guests sign up, browse restaurants, see open slots in the restaurant's own time zone and reserve a table. A table can never be booked twice for overlapping times.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79" y="1828800"/>
            <a:ext cx="3566160" cy="3566160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A524"/>
                </a:solidFill>
                <a:latin typeface="Consolas"/>
              </a:rPr>
              <a:t>WHO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EDEAE4"/>
                </a:solidFill>
                <a:latin typeface="Arial"/>
              </a:rPr>
              <a:t>Three AI agents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958C"/>
                </a:solidFill>
                <a:latin typeface="Arial"/>
              </a:rPr>
              <a:t>Planner, Builder and Reviewer: three Claude Code sessions working together in one Band room. Each seat has a generic standing mandate.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19" y="1828800"/>
            <a:ext cx="3566160" cy="3566160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A524"/>
                </a:solidFill>
                <a:latin typeface="Consolas"/>
              </a:rPr>
              <a:t>HUMAN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EDEAE4"/>
                </a:solidFill>
                <a:latin typeface="Arial"/>
              </a:rPr>
              <a:t>One message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958C"/>
                </a:solidFill>
                <a:latin typeface="Arial"/>
              </a:rPr>
              <a:t>The human sent a single task and did not steer. About 27 minutes from dispatch to the accepted revision, with every step recorded.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5A524"/>
                </a:solidFill>
                <a:latin typeface="Consolas"/>
              </a:rPr>
              <a:t>02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DEAE4"/>
                </a:solidFill>
                <a:latin typeface="Arial"/>
              </a:rPr>
              <a:t>Booking a table sounds easy. Getting it right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9A958C"/>
                </a:solidFill>
                <a:latin typeface="Consolas"/>
              </a:rPr>
              <a:t>TABLE 2 · ZUM ANKER · 90-MIN RESERVATIONS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611880"/>
            <a:ext cx="5120640" cy="0"/>
          </a:xfrm>
          <a:prstGeom prst="line">
            <a:avLst/>
          </a:prstGeom>
          <a:ln w="12700">
            <a:solidFill>
              <a:srgbClr val="9A9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2879" y="3675887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A958C"/>
                </a:solidFill>
                <a:latin typeface="Consolas"/>
              </a:rPr>
              <a:t>17:00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" y="3675887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A958C"/>
                </a:solidFill>
                <a:latin typeface="Consolas"/>
              </a:rPr>
              <a:t>17:30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759" y="3675887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A958C"/>
                </a:solidFill>
                <a:latin typeface="Consolas"/>
              </a:rPr>
              <a:t>18:00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675887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A958C"/>
                </a:solidFill>
                <a:latin typeface="Consolas"/>
              </a:rPr>
              <a:t>18:30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6640" y="3675887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A958C"/>
                </a:solidFill>
                <a:latin typeface="Consolas"/>
              </a:rPr>
              <a:t>19:00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79" y="3675887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A958C"/>
                </a:solidFill>
                <a:latin typeface="Consolas"/>
              </a:rPr>
              <a:t>19:30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19" y="3675887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A958C"/>
                </a:solidFill>
                <a:latin typeface="Consolas"/>
              </a:rPr>
              <a:t>20:00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55519" y="2148840"/>
            <a:ext cx="1706879" cy="1417320"/>
          </a:xfrm>
          <a:prstGeom prst="rect">
            <a:avLst/>
          </a:prstGeom>
          <a:noFill/>
          <a:ln w="19050">
            <a:solidFill>
              <a:srgbClr val="F8717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519" y="3319272"/>
            <a:ext cx="170687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F87171"/>
                </a:solidFill>
                <a:latin typeface="Consolas"/>
              </a:rPr>
              <a:t>overlap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02080" y="2240280"/>
            <a:ext cx="2560320" cy="5029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F0F0E"/>
                </a:solidFill>
                <a:latin typeface="Arial"/>
              </a:rPr>
              <a:t>Guest A · 17:30–19:00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55519" y="2788920"/>
            <a:ext cx="2560320" cy="5029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F0F0E"/>
                </a:solidFill>
                <a:latin typeface="Arial"/>
              </a:rPr>
              <a:t>Guest B · 18:00–19:30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51206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EDEAE4"/>
                </a:solidFill>
                <a:latin typeface="Arial"/>
              </a:rPr>
              <a:t>Both click Confirm at the same moment.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F87171"/>
                </a:solidFill>
                <a:latin typeface="Arial"/>
              </a:rPr>
              <a:t>Without a guard: one table, two bookings.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783080"/>
            <a:ext cx="5349240" cy="1097280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A524"/>
                </a:solidFill>
                <a:latin typeface="Arial"/>
              </a:rPr>
              <a:t>Concurrency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EDEAE4"/>
                </a:solidFill>
                <a:latin typeface="Arial"/>
              </a:rPr>
              <a:t>Many requests race for the same table at the same instant.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953512"/>
            <a:ext cx="5349240" cy="1097280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A524"/>
                </a:solidFill>
                <a:latin typeface="Arial"/>
              </a:rPr>
              <a:t>Retries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EDEAE4"/>
                </a:solidFill>
                <a:latin typeface="Arial"/>
              </a:rPr>
              <a:t>A flaky network re-sends a request and creates a duplicate booking.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123944"/>
            <a:ext cx="5349240" cy="1097280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A524"/>
                </a:solidFill>
                <a:latin typeface="Arial"/>
              </a:rPr>
              <a:t>Time zones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EDEAE4"/>
                </a:solidFill>
                <a:latin typeface="Arial"/>
              </a:rPr>
              <a:t>18:00 in Berlin is not 18:00 in New York, and DST adds gaps and overlaps.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5294376"/>
            <a:ext cx="5349240" cy="1097280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A524"/>
                </a:solidFill>
                <a:latin typeface="Arial"/>
              </a:rPr>
              <a:t>AI-written code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EDEAE4"/>
                </a:solidFill>
                <a:latin typeface="Arial"/>
              </a:rPr>
              <a:t>One agent grading its own work misses the edge cases.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5A524"/>
                </a:solidFill>
                <a:latin typeface="Consolas"/>
              </a:rPr>
              <a:t>03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DEAE4"/>
                </a:solidFill>
                <a:latin typeface="Arial"/>
              </a:rPr>
              <a:t>Three agents, one Band room, one review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4206240" cy="457200"/>
          </a:xfrm>
          <a:prstGeom prst="rect">
            <a:avLst/>
          </a:prstGeom>
          <a:solidFill>
            <a:srgbClr val="1B1A17"/>
          </a:solidFill>
          <a:ln w="15875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5A524"/>
                </a:solidFill>
                <a:latin typeface="Consolas"/>
              </a:rPr>
              <a:t>HUMAN  </a:t>
            </a:r>
            <a:r>
              <a:rPr sz="1500" b="0">
                <a:solidFill>
                  <a:srgbClr val="EDEAE4"/>
                </a:solidFill>
                <a:latin typeface="Arial"/>
              </a:rPr>
              <a:t>one task message, then no steering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566160" cy="1691640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F5A524"/>
                </a:solidFill>
                <a:latin typeface="Consolas"/>
              </a:rPr>
              <a:t>PLANNER</a:t>
            </a:r>
            <a:r>
              <a:rPr sz="1200" b="0">
                <a:solidFill>
                  <a:srgbClr val="9A958C"/>
                </a:solidFill>
                <a:latin typeface="Consolas"/>
              </a:rPr>
              <a:t>   planner-nc33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EDEAE4"/>
                </a:solidFill>
                <a:latin typeface="Arial"/>
              </a:rPr>
              <a:t>Resolves spec ambiguities up front, writes self-contained handoffs, rules on disputes. Never writes product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4255" y="2103120"/>
            <a:ext cx="3566160" cy="1691640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F5A524"/>
                </a:solidFill>
                <a:latin typeface="Consolas"/>
              </a:rPr>
              <a:t>BUILDER</a:t>
            </a:r>
            <a:r>
              <a:rPr sz="1200" b="0">
                <a:solidFill>
                  <a:srgbClr val="9A958C"/>
                </a:solidFill>
                <a:latin typeface="Consolas"/>
              </a:rPr>
              <a:t>   developer-nc33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EDEAE4"/>
                </a:solidFill>
                <a:latin typeface="Arial"/>
              </a:rPr>
              <a:t>Implements stage-1/ with Dockerfile, RUN.md and 54 tests. Answers each finding with a fix commit.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9871" y="2103120"/>
            <a:ext cx="3566160" cy="1691640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F5A524"/>
                </a:solidFill>
                <a:latin typeface="Consolas"/>
              </a:rPr>
              <a:t>REVIEWER</a:t>
            </a:r>
            <a:r>
              <a:rPr sz="1200" b="0">
                <a:solidFill>
                  <a:srgbClr val="9A958C"/>
                </a:solidFill>
                <a:latin typeface="Consolas"/>
              </a:rPr>
              <a:t>   reviewer-nc34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EDEAE4"/>
                </a:solidFill>
                <a:latin typeface="Arial"/>
              </a:rPr>
              <a:t>Writes 456 probes from the spec before seeing code, rebuilds each revision clean, accepts or rejects.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14800"/>
            <a:ext cx="11091672" cy="6858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0F0E"/>
                </a:solidFill>
                <a:latin typeface="Consolas"/>
              </a:rPr>
              <a:t>BAND ROOM</a:t>
            </a:r>
            <a:r>
              <a:rPr sz="1500" b="0">
                <a:solidFill>
                  <a:srgbClr val="0F0F0E"/>
                </a:solidFill>
                <a:latin typeface="Arial"/>
              </a:rPr>
              <a:t>    live membership + nonce check  ·  @handle handoffs  ·  review loop  ·  room.json evidence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3794760"/>
            <a:ext cx="0" cy="320040"/>
          </a:xfrm>
          <a:prstGeom prst="line">
            <a:avLst/>
          </a:prstGeom>
          <a:ln w="2540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17336" y="3794760"/>
            <a:ext cx="0" cy="320040"/>
          </a:xfrm>
          <a:prstGeom prst="line">
            <a:avLst/>
          </a:prstGeom>
          <a:ln w="2540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902951" y="3794760"/>
            <a:ext cx="0" cy="320040"/>
          </a:xfrm>
          <a:prstGeom prst="line">
            <a:avLst/>
          </a:prstGeom>
          <a:ln w="2540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8640" y="5074920"/>
            <a:ext cx="5440680" cy="1371600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A524"/>
                </a:solidFill>
                <a:latin typeface="Consolas"/>
              </a:rPr>
              <a:t>REVIEW LOOP IN THIS RUN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EDEAE4"/>
                </a:solidFill>
                <a:latin typeface="Consolas"/>
              </a:rPr>
              <a:t>42d743f </a:t>
            </a:r>
            <a:r>
              <a:rPr sz="1500" b="1">
                <a:solidFill>
                  <a:srgbClr val="F87171"/>
                </a:solidFill>
                <a:latin typeface="Arial"/>
              </a:rPr>
              <a:t>rejected 117/120</a:t>
            </a:r>
            <a:r>
              <a:rPr sz="1500" b="0">
                <a:solidFill>
                  <a:srgbClr val="EDEAE4"/>
                </a:solidFill>
                <a:latin typeface="Arial"/>
              </a:rPr>
              <a:t> → 3 fix commits → </a:t>
            </a:r>
            <a:r>
              <a:rPr sz="1500" b="0">
                <a:solidFill>
                  <a:srgbClr val="EDEAE4"/>
                </a:solidFill>
                <a:latin typeface="Consolas"/>
              </a:rPr>
              <a:t>5d70f0e </a:t>
            </a:r>
            <a:r>
              <a:rPr sz="1500" b="1">
                <a:solidFill>
                  <a:srgbClr val="4ADE80"/>
                </a:solidFill>
                <a:latin typeface="Arial"/>
              </a:rPr>
              <a:t>accepted 120/120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5074920"/>
            <a:ext cx="5440680" cy="1371600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A524"/>
                </a:solidFill>
                <a:latin typeface="Consolas"/>
              </a:rPr>
              <a:t>WHAT THE SERVICE GUARANTEES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EDEAE4"/>
                </a:solidFill>
                <a:latin typeface="Arial"/>
              </a:rPr>
              <a:t>One lock around all state: an overlapping booking gets </a:t>
            </a:r>
            <a:r>
              <a:rPr sz="1500" b="0">
                <a:solidFill>
                  <a:srgbClr val="4ADE80"/>
                </a:solidFill>
                <a:latin typeface="Consolas"/>
              </a:rPr>
              <a:t>409 table_unavailable</a:t>
            </a:r>
            <a:r>
              <a:rPr sz="1500" b="0">
                <a:solidFill>
                  <a:srgbClr val="EDEAE4"/>
                </a:solidFill>
                <a:latin typeface="Arial"/>
              </a:rPr>
              <a:t>. Retries with the same Idempotency-Key return the original.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5A524"/>
                </a:solidFill>
                <a:latin typeface="Consolas"/>
              </a:rPr>
              <a:t>04 · FEATURES AND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DEAE4"/>
                </a:solidFill>
                <a:latin typeface="Arial"/>
              </a:rPr>
              <a:t>A verified service, and a factory anyone can rerun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4480560" cy="4480560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F5A524"/>
                </a:solidFill>
                <a:latin typeface="Consolas"/>
              </a:rPr>
              <a:t>FEATURES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EDEAE4"/>
                </a:solidFill>
                <a:latin typeface="Arial"/>
              </a:rPr>
              <a:t>No double booking, even with 50 concurrent requests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EDEAE4"/>
                </a:solidFill>
                <a:latin typeface="Arial"/>
              </a:rPr>
              <a:t>Safe retries with Idempotency-Key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EDEAE4"/>
                </a:solidFill>
                <a:latin typeface="Arial"/>
              </a:rPr>
              <a:t>Correct local time across DST changes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EDEAE4"/>
                </a:solidFill>
                <a:latin typeface="Arial"/>
              </a:rPr>
              <a:t>All-or-nothing multi-item moves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EDEAE4"/>
                </a:solidFill>
                <a:latin typeface="Arial"/>
              </a:rPr>
              <a:t>Accounts, availability, booking, cancellation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EDEAE4"/>
                </a:solidFill>
                <a:latin typeface="Arial"/>
              </a:rPr>
              <a:t>Python stdlib only, starts in ~0.3 s, no network</a:t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EDEAE4"/>
                </a:solidFill>
                <a:latin typeface="Arial"/>
              </a:rPr>
              <a:t>Web demo (later Lovable frontend) via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0" y="1691640"/>
            <a:ext cx="2029968" cy="1664208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4ADE80"/>
                </a:solidFill>
                <a:latin typeface="Arial"/>
              </a:rPr>
              <a:t>120/120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9A958C"/>
                </a:solidFill>
                <a:latin typeface="Arial"/>
              </a:rPr>
              <a:t>official Stage 1 checks, isolated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15783" y="1691640"/>
            <a:ext cx="2029968" cy="1664208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4ADE80"/>
                </a:solidFill>
                <a:latin typeface="Arial"/>
              </a:rPr>
              <a:t>456/456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9A958C"/>
                </a:solidFill>
                <a:latin typeface="Arial"/>
              </a:rPr>
              <a:t>independent reviewer probes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573767" y="1691640"/>
            <a:ext cx="2029968" cy="1664208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EDEAE4"/>
                </a:solidFill>
                <a:latin typeface="Arial"/>
              </a:rPr>
              <a:t>54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9A958C"/>
                </a:solidFill>
                <a:latin typeface="Arial"/>
              </a:rPr>
              <a:t>builder black-box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3520440"/>
            <a:ext cx="2029968" cy="1664208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F5A524"/>
                </a:solidFill>
                <a:latin typeface="Arial"/>
              </a:rPr>
              <a:t>3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9A958C"/>
                </a:solidFill>
                <a:latin typeface="Arial"/>
              </a:rPr>
              <a:t>defects caught before acceptance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15783" y="3520440"/>
            <a:ext cx="2029968" cy="1664208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EDEAE4"/>
                </a:solidFill>
                <a:latin typeface="Arial"/>
              </a:rPr>
              <a:t>~27 min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9A958C"/>
                </a:solidFill>
                <a:latin typeface="Arial"/>
              </a:rPr>
              <a:t>from one task message to accepted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73767" y="3520440"/>
            <a:ext cx="2029968" cy="1664208"/>
          </a:xfrm>
          <a:prstGeom prst="rect">
            <a:avLst/>
          </a:prstGeom>
          <a:solidFill>
            <a:srgbClr val="1B1A17"/>
          </a:solidFill>
          <a:ln w="15875">
            <a:solidFill>
              <a:srgbClr val="3A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EDEAE4"/>
                </a:solidFill>
                <a:latin typeface="Arial"/>
              </a:rPr>
              <a:t>≈ $10.61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9A958C"/>
                </a:solidFill>
                <a:latin typeface="Arial"/>
              </a:rPr>
              <a:t>model spend, API list-rate 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5440680"/>
            <a:ext cx="6382512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A524"/>
                </a:solidFill>
                <a:latin typeface="Arial"/>
              </a:rPr>
              <a:t>Impact: </a:t>
            </a:r>
            <a:r>
              <a:rPr sz="1600" b="0">
                <a:solidFill>
                  <a:srgbClr val="EDEAE4"/>
                </a:solidFill>
                <a:latin typeface="Arial"/>
              </a:rPr>
              <a:t>one human message in, a verified service out. Every step is attributed in git and in the Band room export.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 b="1">
                <a:solidFill>
                  <a:srgbClr val="EDEAE4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5A524"/>
                </a:solidFill>
                <a:latin typeface="Arial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0">
                <a:solidFill>
                  <a:srgbClr val="9A958C"/>
                </a:solidFill>
                <a:latin typeface="Consolas"/>
              </a:rPr>
              <a:t>Repository   </a:t>
            </a:r>
            <a:r>
              <a:rPr sz="1800" b="0">
                <a:solidFill>
                  <a:srgbClr val="EDEAE4"/>
                </a:solidFill>
                <a:latin typeface="Consolas"/>
                <a:hlinkClick r:id="rId3"/>
              </a:rPr>
              <a:t>https://github.com/helshahaby/tablekeeper-band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9A958C"/>
                </a:solidFill>
                <a:latin typeface="Consolas"/>
              </a:rPr>
              <a:t>Demo video   </a:t>
            </a:r>
            <a:r>
              <a:rPr sz="1800" b="0">
                <a:solidFill>
                  <a:srgbClr val="EDEAE4"/>
                </a:solidFill>
                <a:latin typeface="Consolas"/>
                <a:hlinkClick r:id="rId4"/>
              </a:rPr>
              <a:t>https://www.loom.com/share/8318b9a6de17450bbfb7fdda287a9a8b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958C"/>
                </a:solidFill>
                <a:latin typeface="Consolas"/>
              </a:rPr>
              <a:t>Hossam Elshahaby  ·  Tablekeeper  ·  Band factory submission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5A524"/>
      </a:hlink>
      <a:folHlink>
        <a:srgbClr val="F5A52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